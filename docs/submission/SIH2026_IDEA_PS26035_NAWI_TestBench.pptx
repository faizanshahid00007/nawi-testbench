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756"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8/20/2024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8/20/2024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8/20/2024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8/20/2024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8/20/2024</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00000"/>
            <a:ext cx="6300000" cy="4500000"/>
          </a:xfrm>
          <a:prstGeom prst="rect">
            <a:avLst/>
          </a:prstGeom>
          <a:noFill/>
        </p:spPr>
        <p:txBody>
          <a:bodyPr wrap="square" rtlCol="0" lIns="45720" rIns="45720" tIns="27432" bIns="27432">
            <a:normAutofit/>
          </a:bodyPr>
          <a:lstStyle/>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Problem Statement ID – </a:t>
            </a:r>
            <a:r>
              <a:rPr lang="en-US" sz="1500" dirty="0">
                <a:latin typeface="Arial" pitchFamily="34" charset="0"/>
                <a:cs typeface="Arial" pitchFamily="34" charset="0"/>
              </a:rPr>
              <a:t>SIH26035</a:t>
            </a:r>
            <a:endParaRPr lang="en-US" sz="1600" dirty="0"/>
          </a:p>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Problem Statement Title – </a:t>
            </a:r>
            <a:r>
              <a:rPr lang="en-US" sz="1300" dirty="0">
                <a:latin typeface="Arial" pitchFamily="34" charset="0"/>
                <a:cs typeface="Arial" pitchFamily="34" charset="0"/>
              </a:rPr>
              <a:t>Development of a Software Program/Application for Generation of Test Reports for Non-Automatic Weighing Instruments (NAWI) as per OIML Recommendation R-76</a:t>
            </a:r>
            <a:endParaRPr lang="en-US" sz="1600" dirty="0"/>
          </a:p>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Theme – </a:t>
            </a:r>
            <a:r>
              <a:rPr lang="en-US" sz="1500" dirty="0">
                <a:latin typeface="Arial" pitchFamily="34" charset="0"/>
                <a:cs typeface="Arial" pitchFamily="34" charset="0"/>
              </a:rPr>
              <a:t>Smart Vehicles (as listed against SIH26035 on the SIH portal)</a:t>
            </a:r>
            <a:endParaRPr lang="en-US" sz="1600" dirty="0"/>
          </a:p>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PS Category – </a:t>
            </a:r>
            <a:r>
              <a:rPr lang="en-US" sz="1500" dirty="0">
                <a:latin typeface="Arial" pitchFamily="34" charset="0"/>
                <a:cs typeface="Arial" pitchFamily="34" charset="0"/>
              </a:rPr>
              <a:t>Software</a:t>
            </a:r>
            <a:endParaRPr lang="en-US" sz="1600" dirty="0"/>
          </a:p>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Team ID – </a:t>
            </a:r>
            <a:r>
              <a:rPr lang="en-US" sz="1500" dirty="0">
                <a:latin typeface="Arial" pitchFamily="34" charset="0"/>
                <a:cs typeface="Arial" pitchFamily="34" charset="0"/>
              </a:rPr>
              <a:t>[Team ID]</a:t>
            </a:r>
            <a:endParaRPr lang="en-US" sz="1600" dirty="0"/>
          </a:p>
          <a:p>
            <a:pPr marL="285750" indent="-285750" algn="l">
              <a:spcBef>
                <a:spcPts val="0"/>
              </a:spcBef>
              <a:spcAft>
                <a:spcPts val="500"/>
              </a:spcAft>
              <a:buFont typeface="Arial" pitchFamily="34" charset="0"/>
              <a:buChar char="•"/>
            </a:pPr>
            <a:r>
              <a:rPr lang="en-US" sz="1600" b="1" dirty="0">
                <a:latin typeface="Arial" pitchFamily="34" charset="0"/>
                <a:cs typeface="Arial" pitchFamily="34" charset="0"/>
              </a:rPr>
              <a:t>Team Name (Registered on portal) – </a:t>
            </a:r>
            <a:r>
              <a:rPr lang="en-US" sz="1500" dirty="0">
                <a:latin typeface="Arial" pitchFamily="34" charset="0"/>
                <a:cs typeface="Arial" pitchFamily="34" charset="0"/>
              </a:rPr>
              <a:t>[Team Name]</a:t>
            </a:r>
            <a:endParaRPr lang="en-US" sz="1600" dirty="0"/>
          </a:p>
        </p:txBody>
      </p:sp>
      <p:pic>
        <p:nvPicPr>
          <p:cNvPr id="9"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50000" y="0"/>
            <a:ext cx="8100000" cy="1143000"/>
          </a:xfrm>
        </p:spPr>
        <p:txBody>
          <a:bodyPr/>
          <a:lstStyle/>
          <a:p>
            <a:pPr eaLnBrk="1" hangingPunct="1"/>
            <a:r>
              <a:rPr lang="en-US" sz="2400" b="1" dirty="0">
                <a:latin typeface="Times New Roman" panose="02020603050405020304" pitchFamily="18" charset="0"/>
                <a:ea typeface="ＭＳ Ｐゴシック" pitchFamily="1" charset="-128"/>
                <a:cs typeface="Times New Roman" panose="02020603050405020304" pitchFamily="18" charset="0"/>
              </a:rPr>
              <a:t/>
            </a:r>
            <a:br>
              <a:rPr lang="en-US" sz="2400" b="1" dirty="0">
                <a:latin typeface="Times New Roman" panose="02020603050405020304" pitchFamily="18" charset="0"/>
                <a:ea typeface="ＭＳ Ｐゴシック" pitchFamily="1" charset="-128"/>
                <a:cs typeface="Times New Roman" panose="02020603050405020304" pitchFamily="18" charset="0"/>
              </a:rPr>
            </a:br>
            <a:r>
              <a:rPr lang="en-US" sz="2400" b="1" dirty="0">
                <a:latin typeface="Times New Roman" panose="02020603050405020304" pitchFamily="18" charset="0"/>
                <a:ea typeface="ＭＳ Ｐゴシック" pitchFamily="1" charset="-128"/>
                <a:cs typeface="Times New Roman" panose="02020603050405020304" pitchFamily="18" charset="0"/>
              </a:rPr>
              <a:t>NAWI TestBench: OIML R 76 test reports computed to the clause</a:t>
            </a:r>
          </a:p>
        </p:txBody>
      </p:sp>
      <p:sp>
        <p:nvSpPr>
          <p:cNvPr id="15362" name="TextBox 8"/>
          <p:cNvSpPr txBox="1">
            <a:spLocks noChangeArrowheads="1"/>
          </p:cNvSpPr>
          <p:nvPr/>
        </p:nvSpPr>
        <p:spPr bwMode="auto">
          <a:xfrm>
            <a:off x="250000" y="1150000"/>
            <a:ext cx="7350000" cy="5150000"/>
          </a:xfrm>
          <a:prstGeom prst="rect">
            <a:avLst/>
          </a:prstGeom>
          <a:noFill/>
          <a:ln w="9525">
            <a:noFill/>
            <a:miter lim="800000"/>
            <a:headEnd/>
            <a:tailEnd/>
          </a:ln>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600" b="1" u="sng" dirty="0">
                <a:solidFill>
                  <a:schemeClr val="tx2"/>
                </a:solidFill>
                <a:latin typeface="Arial" pitchFamily="34" charset="0"/>
                <a:cs typeface="Arial" pitchFamily="34" charset="0"/>
              </a:rPr>
              <a:t>Proposed Solution (Describe your Idea/Solution/Prototype)</a:t>
            </a:r>
          </a:p>
          <a:p>
            <a:pPr marL="285750" indent="-285750">
              <a:spcBef>
                <a:spcPts val="0"/>
              </a:spcBef>
              <a:spcAft>
                <a:spcPts val="200"/>
              </a:spcAft>
              <a:buFont typeface="Arial" pitchFamily="34" charset="0"/>
              <a:buChar char="•"/>
            </a:pPr>
            <a:r>
              <a:rPr lang="en-US" sz="1300" dirty="0">
                <a:latin typeface="Arial" pitchFamily="34" charset="0"/>
                <a:cs typeface="Arial" pitchFamily="34" charset="0"/>
              </a:rPr>
              <a:t>A working web application for type-evaluation laboratories: register the instrument, record every OIML R 76 observation as the indicator shows it, and receive the computed verdicts, the standardised report and the certificate.</a:t>
            </a:r>
            <a:endParaRPr lang="en-US" sz="1300" dirty="0"/>
          </a:p>
          <a:p>
            <a:pPr>
              <a:spcBef>
                <a:spcPts val="300"/>
              </a:spcBef>
              <a:spcAft>
                <a:spcPts val="100"/>
              </a:spcAft>
              <a:buNone/>
            </a:pPr>
            <a:r>
              <a:rPr lang="en-US" sz="1400" b="1" dirty="0">
                <a:latin typeface="Arial" pitchFamily="34" charset="0"/>
                <a:cs typeface="Arial" pitchFamily="34" charset="0"/>
              </a:rPr>
              <a:t>Detailed explanation of the proposed solution</a:t>
            </a:r>
            <a:endParaRPr lang="en-US" sz="14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Instrument register with full R 76 particulars; Table 3 admissibility (n, Min, d ≤ e) checked as you type</a:t>
            </a:r>
            <a:endParaRPr lang="en-US" sz="12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17 tests as data-entry forms: weighing, eccentricity, repeatability, discrimination, tare, zero, tilting, warm-up, temperature, zero drift, voltage, damp heat, creep, zero return, span stability, markings and functional checklists</a:t>
            </a:r>
            <a:endParaRPr lang="en-US" sz="12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Lab environment (temperature, humidity, pressure, voltage, frequency) logged at start, during and end of testing</a:t>
            </a:r>
            <a:endParaRPr lang="en-US" sz="12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Engine derives the MPE band, applies P = I + ½e − ΔL and Ec = E − E0, and decides pass / fail per point, per test, per evaluation</a:t>
            </a:r>
            <a:endParaRPr lang="en-US" sz="1200" dirty="0"/>
          </a:p>
          <a:p>
            <a:pPr marL="571500" indent="-285750">
              <a:spcBef>
                <a:spcPts val="0"/>
              </a:spcBef>
              <a:spcAft>
                <a:spcPts val="200"/>
              </a:spcAft>
              <a:buFont typeface="Arial" pitchFamily="34" charset="0"/>
              <a:buChar char="–"/>
            </a:pPr>
            <a:r>
              <a:rPr lang="en-US" sz="1200" dirty="0">
                <a:latin typeface="Arial" pitchFamily="34" charset="0"/>
                <a:cs typeface="Arial" pitchFamily="34" charset="0"/>
              </a:rPr>
              <a:t>Report as HTML, PDF and editable Word; certificate of conformity when the full battery passes and an approver signs</a:t>
            </a:r>
            <a:endParaRPr lang="en-US" sz="1200" dirty="0"/>
          </a:p>
          <a:p>
            <a:pPr>
              <a:spcBef>
                <a:spcPts val="300"/>
              </a:spcBef>
              <a:spcAft>
                <a:spcPts val="100"/>
              </a:spcAft>
              <a:buNone/>
            </a:pPr>
            <a:r>
              <a:rPr lang="en-US" sz="1400" b="1" dirty="0">
                <a:latin typeface="Arial" pitchFamily="34" charset="0"/>
                <a:cs typeface="Arial" pitchFamily="34" charset="0"/>
              </a:rPr>
              <a:t>How it addresses the problem</a:t>
            </a:r>
            <a:endParaRPr lang="en-US" sz="14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Replaces spreadsheets and printed MPE tables: no band look-ups, no transcription, no arithmetic by hand</a:t>
            </a:r>
            <a:endParaRPr lang="en-US" sz="1200" dirty="0"/>
          </a:p>
          <a:p>
            <a:pPr marL="571500" indent="-285750">
              <a:spcBef>
                <a:spcPts val="0"/>
              </a:spcBef>
              <a:spcAft>
                <a:spcPts val="200"/>
              </a:spcAft>
              <a:buFont typeface="Arial" pitchFamily="34" charset="0"/>
              <a:buChar char="–"/>
            </a:pPr>
            <a:r>
              <a:rPr lang="en-US" sz="1200" dirty="0">
                <a:latin typeface="Arial" pitchFamily="34" charset="0"/>
                <a:cs typeface="Arial" pitchFamily="34" charset="0"/>
              </a:rPr>
              <a:t>Uniform report across all centres; every verdict carries its R 76 clause; searchable repository with role-based access and audit trail</a:t>
            </a:r>
            <a:endParaRPr lang="en-US" sz="1200" dirty="0"/>
          </a:p>
          <a:p>
            <a:pPr>
              <a:spcBef>
                <a:spcPts val="300"/>
              </a:spcBef>
              <a:spcAft>
                <a:spcPts val="100"/>
              </a:spcAft>
              <a:buNone/>
            </a:pPr>
            <a:r>
              <a:rPr lang="en-US" sz="1400" b="1" dirty="0">
                <a:latin typeface="Arial" pitchFamily="34" charset="0"/>
                <a:cs typeface="Arial" pitchFamily="34" charset="0"/>
              </a:rPr>
              <a:t>Innovation and uniqueness of the solution</a:t>
            </a:r>
            <a:endParaRPr lang="en-US" sz="14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The standard is data: a versioned rule-set file, so a revised R 76 is a new file and old reports stay reproducible</a:t>
            </a:r>
            <a:endParaRPr lang="en-US" sz="1200" dirty="0"/>
          </a:p>
          <a:p>
            <a:pPr marL="571500" indent="-285750">
              <a:spcBef>
                <a:spcPts val="0"/>
              </a:spcBef>
              <a:spcAft>
                <a:spcPts val="60"/>
              </a:spcAft>
              <a:buFont typeface="Arial" pitchFamily="34" charset="0"/>
              <a:buChar char="–"/>
            </a:pPr>
            <a:r>
              <a:rPr lang="en-US" sz="1200" dirty="0">
                <a:latin typeface="Arial" pitchFamily="34" charset="0"/>
                <a:cs typeface="Arial" pitchFamily="34" charset="0"/>
              </a:rPr>
              <a:t>Live indicator readout shows the corrected error against ± MPE before a reading is saved; metrological validation refuses impossible entries</a:t>
            </a:r>
            <a:endParaRPr lang="en-US" sz="1200" dirty="0"/>
          </a:p>
          <a:p>
            <a:pPr marL="571500" indent="-285750">
              <a:spcBef>
                <a:spcPts val="0"/>
              </a:spcBef>
              <a:spcAft>
                <a:spcPts val="200"/>
              </a:spcAft>
              <a:buFont typeface="Arial" pitchFamily="34" charset="0"/>
              <a:buChar char="–"/>
            </a:pPr>
            <a:r>
              <a:rPr lang="en-US" sz="1200" dirty="0">
                <a:latin typeface="Arial" pitchFamily="34" charset="0"/>
                <a:cs typeface="Arial" pitchFamily="34" charset="0"/>
              </a:rPr>
              <a:t>SHA-256 signed approval, numbered certificate, public verification page</a:t>
            </a:r>
            <a:endParaRPr lang="en-US" sz="1200" dirty="0"/>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1"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pic>
        <p:nvPicPr>
          <p:cNvPr id="40" name="Live readout" descr="Weighing form with live LCD readout and MPE gauge"/>
          <p:cNvPicPr>
            <a:picLocks noChangeAspect="1"/>
          </p:cNvPicPr>
          <p:nvPr/>
        </p:nvPicPr>
        <p:blipFill>
          <a:blip r:embed="rId4"/>
          <a:stretch>
            <a:fillRect/>
          </a:stretch>
        </p:blipFill>
        <p:spPr>
          <a:xfrm>
            <a:off x="7700000" y="1250000"/>
            <a:ext cx="2663043" cy="2100000"/>
          </a:xfrm>
          <a:prstGeom prst="rect">
            <a:avLst/>
          </a:prstGeom>
          <a:ln w="9525">
            <a:solidFill>
              <a:srgbClr val="BFBFBF"/>
            </a:solidFill>
          </a:ln>
        </p:spPr>
      </p:pic>
      <p:sp>
        <p:nvSpPr>
          <p:cNvPr id="41" name="Caption 1"/>
          <p:cNvSpPr txBox="1"/>
          <p:nvPr/>
        </p:nvSpPr>
        <p:spPr>
          <a:xfrm>
            <a:off x="7700000" y="3370000"/>
            <a:ext cx="2663043" cy="300000"/>
          </a:xfrm>
          <a:prstGeom prst="rect">
            <a:avLst/>
          </a:prstGeom>
          <a:noFill/>
        </p:spPr>
        <p:txBody>
          <a:bodyPr wrap="square" rtlCol="0" lIns="45720" rIns="45720" tIns="27432" bIns="27432">
            <a:normAutofit/>
          </a:bodyPr>
          <a:lstStyle/>
          <a:p>
            <a:pPr>
              <a:spcBef>
                <a:spcPts val="0"/>
              </a:spcBef>
              <a:spcAft>
                <a:spcPts val="0"/>
              </a:spcAft>
              <a:buNone/>
            </a:pPr>
            <a:r>
              <a:rPr lang="en-US" sz="1000" dirty="0">
                <a:latin typeface="Arial" pitchFamily="34" charset="0"/>
                <a:cs typeface="Arial" pitchFamily="34" charset="0"/>
              </a:rPr>
              <a:t>Recording a reading: corrected error shown against ± MPE live</a:t>
            </a:r>
            <a:endParaRPr lang="en-US" sz="1000" dirty="0"/>
          </a:p>
        </p:txBody>
      </p:sp>
      <p:pic>
        <p:nvPicPr>
          <p:cNvPr id="42" name="Certificate" descr="Certificate of conformity"/>
          <p:cNvPicPr>
            <a:picLocks noChangeAspect="1"/>
          </p:cNvPicPr>
          <p:nvPr/>
        </p:nvPicPr>
        <p:blipFill>
          <a:blip r:embed="rId5"/>
          <a:stretch>
            <a:fillRect/>
          </a:stretch>
        </p:blipFill>
        <p:spPr>
          <a:xfrm>
            <a:off x="8298963" y="3710000"/>
            <a:ext cx="1465116" cy="2100000"/>
          </a:xfrm>
          <a:prstGeom prst="rect">
            <a:avLst/>
          </a:prstGeom>
          <a:ln w="9525">
            <a:solidFill>
              <a:srgbClr val="BFBFBF"/>
            </a:solidFill>
          </a:ln>
        </p:spPr>
      </p:pic>
      <p:sp>
        <p:nvSpPr>
          <p:cNvPr id="43" name="Caption 2"/>
          <p:cNvSpPr txBox="1"/>
          <p:nvPr/>
        </p:nvSpPr>
        <p:spPr>
          <a:xfrm>
            <a:off x="7700000" y="5830000"/>
            <a:ext cx="2663043" cy="300000"/>
          </a:xfrm>
          <a:prstGeom prst="rect">
            <a:avLst/>
          </a:prstGeom>
          <a:noFill/>
        </p:spPr>
        <p:txBody>
          <a:bodyPr wrap="square" rtlCol="0" lIns="45720" rIns="45720" tIns="27432" bIns="27432">
            <a:normAutofit/>
          </a:bodyPr>
          <a:lstStyle/>
          <a:p>
            <a:pPr>
              <a:spcBef>
                <a:spcPts val="0"/>
              </a:spcBef>
              <a:spcAft>
                <a:spcPts val="0"/>
              </a:spcAft>
              <a:buNone/>
            </a:pPr>
            <a:r>
              <a:rPr lang="en-US" sz="1000" dirty="0">
                <a:latin typeface="Arial" pitchFamily="34" charset="0"/>
                <a:cs typeface="Arial" pitchFamily="34" charset="0"/>
              </a:rPr>
              <a:t>Certificate issued after a passing battery is approved and signed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250000" y="1150000"/>
            <a:ext cx="6350000" cy="3150000"/>
          </a:xfrm>
          <a:prstGeom prst="rect">
            <a:avLst/>
          </a:prstGeom>
          <a:noFill/>
          <a:ln w="9525">
            <a:noFill/>
            <a:miter lim="800000"/>
            <a:headEnd/>
            <a:tailEnd/>
          </a:ln>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600" b="1" u="sng" dirty="0">
                <a:solidFill>
                  <a:schemeClr val="tx2"/>
                </a:solidFill>
                <a:latin typeface="Arial" pitchFamily="34" charset="0"/>
                <a:cs typeface="Arial" pitchFamily="34" charset="0"/>
              </a:rPr>
              <a:t>Technologies used</a:t>
            </a:r>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Node.js 20 + Express 4 </a:t>
            </a:r>
            <a:r>
              <a:rPr lang="en-US" sz="1200" dirty="0">
                <a:latin typeface="Arial" pitchFamily="34" charset="0"/>
                <a:cs typeface="Arial" pitchFamily="34" charset="0"/>
              </a:rPr>
              <a:t>REST API, role checks on every route</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SQLite (better-sqlite3, WAL) </a:t>
            </a:r>
            <a:r>
              <a:rPr lang="en-US" sz="1200" dirty="0">
                <a:latin typeface="Arial" pitchFamily="34" charset="0"/>
                <a:cs typeface="Arial" pitchFamily="34" charset="0"/>
              </a:rPr>
              <a:t>instruments, tests, observations, environment, checklists, attachments, users, audit</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Vanilla HTML, CSS, JavaScript + SVG </a:t>
            </a:r>
            <a:r>
              <a:rPr lang="en-US" sz="1200" dirty="0">
                <a:latin typeface="Arial" pitchFamily="34" charset="0"/>
                <a:cs typeface="Arial" pitchFamily="34" charset="0"/>
              </a:rPr>
              <a:t>workbench, MPE envelope chart, seven-segment LCD readout, no build step</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Rule set as versioned JSON </a:t>
            </a:r>
            <a:r>
              <a:rPr lang="en-US" sz="1200" dirty="0">
                <a:latin typeface="Arial" pitchFamily="34" charset="0"/>
                <a:cs typeface="Arial" pitchFamily="34" charset="0"/>
              </a:rPr>
              <a:t>classes, MPE bands, supply rules, 17 test definitions with clauses</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Pure evaluation engine </a:t>
            </a:r>
            <a:r>
              <a:rPr lang="en-US" sz="1200" dirty="0">
                <a:latin typeface="Arial" pitchFamily="34" charset="0"/>
                <a:cs typeface="Arial" pitchFamily="34" charset="0"/>
              </a:rPr>
              <a:t>changeover point, zero correction, per-test criteria, load-plan and completeness checks; 47 hand-worked unit tests (node:test)</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Exports </a:t>
            </a:r>
            <a:r>
              <a:rPr lang="en-US" sz="1200" dirty="0">
                <a:latin typeface="Arial" pitchFamily="34" charset="0"/>
                <a:cs typeface="Arial" pitchFamily="34" charset="0"/>
              </a:rPr>
              <a:t>HTML report, PDF via headless Chromium, DOCX via an in-house OOXML writer (zlib only), JSON</a:t>
            </a:r>
            <a:endParaRPr lang="en-US" sz="1200" dirty="0"/>
          </a:p>
          <a:p>
            <a:pPr marL="285750" indent="-285750">
              <a:spcBef>
                <a:spcPts val="0"/>
              </a:spcBef>
              <a:spcAft>
                <a:spcPts val="60"/>
              </a:spcAft>
              <a:buFont typeface="Arial" pitchFamily="34" charset="0"/>
              <a:buChar char="•"/>
            </a:pPr>
            <a:r>
              <a:rPr lang="en-US" sz="1200" b="1" dirty="0">
                <a:latin typeface="Arial" pitchFamily="34" charset="0"/>
                <a:cs typeface="Arial" pitchFamily="34" charset="0"/>
              </a:rPr>
              <a:t>Security </a:t>
            </a:r>
            <a:r>
              <a:rPr lang="en-US" sz="1200" dirty="0">
                <a:latin typeface="Arial" pitchFamily="34" charset="0"/>
                <a:cs typeface="Arial" pitchFamily="34" charset="0"/>
              </a:rPr>
              <a:t>scrypt password hashing, HttpOnly cookie sessions, SHA-256 report signatures, public /verify endpoint</a:t>
            </a:r>
            <a:endParaRPr lang="en-US" sz="1200" dirty="0"/>
          </a:p>
          <a:p>
            <a:pPr marL="285750" indent="-285750">
              <a:spcBef>
                <a:spcPts val="0"/>
              </a:spcBef>
              <a:spcAft>
                <a:spcPts val="200"/>
              </a:spcAft>
              <a:buFont typeface="Arial" pitchFamily="34" charset="0"/>
              <a:buChar char="•"/>
            </a:pPr>
            <a:r>
              <a:rPr lang="en-US" sz="1200" b="1" dirty="0">
                <a:latin typeface="Arial" pitchFamily="34" charset="0"/>
                <a:cs typeface="Arial" pitchFamily="34" charset="0"/>
              </a:rPr>
              <a:t>Standards </a:t>
            </a:r>
            <a:r>
              <a:rPr lang="en-US" sz="1200" dirty="0">
                <a:latin typeface="Arial" pitchFamily="34" charset="0"/>
                <a:cs typeface="Arial" pitchFamily="34" charset="0"/>
              </a:rPr>
              <a:t>OIML R 76-1:2006 (E) constants clause by clause; R 76-2:2007 report layout</a:t>
            </a:r>
            <a:endParaRPr lang="en-US" sz="1200" dirty="0"/>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50" name="Dashboard" descr="Workbench dashboard"/>
          <p:cNvPicPr>
            <a:picLocks noChangeAspect="1"/>
          </p:cNvPicPr>
          <p:nvPr/>
        </p:nvPicPr>
        <p:blipFill>
          <a:blip r:embed="rId4"/>
          <a:stretch>
            <a:fillRect/>
          </a:stretch>
        </p:blipFill>
        <p:spPr>
          <a:xfrm>
            <a:off x="6600000" y="1150000"/>
            <a:ext cx="4720000" cy="2950000"/>
          </a:xfrm>
          <a:prstGeom prst="rect">
            <a:avLst/>
          </a:prstGeom>
          <a:ln w="9525">
            <a:solidFill>
              <a:srgbClr val="BFBFBF"/>
            </a:solidFill>
          </a:ln>
        </p:spPr>
      </p:pic>
      <p:sp>
        <p:nvSpPr>
          <p:cNvPr id="51" name="Caption 3"/>
          <p:cNvSpPr txBox="1"/>
          <p:nvPr/>
        </p:nvSpPr>
        <p:spPr>
          <a:xfrm>
            <a:off x="6600000" y="4110000"/>
            <a:ext cx="4720000" cy="280000"/>
          </a:xfrm>
          <a:prstGeom prst="rect">
            <a:avLst/>
          </a:prstGeom>
          <a:noFill/>
        </p:spPr>
        <p:txBody>
          <a:bodyPr wrap="square" rtlCol="0" lIns="45720" rIns="45720" tIns="27432" bIns="27432">
            <a:normAutofit/>
          </a:bodyPr>
          <a:lstStyle/>
          <a:p>
            <a:pPr>
              <a:spcBef>
                <a:spcPts val="0"/>
              </a:spcBef>
              <a:spcAft>
                <a:spcPts val="0"/>
              </a:spcAft>
              <a:buNone/>
            </a:pPr>
            <a:r>
              <a:rPr lang="en-US" sz="1000" dirty="0">
                <a:latin typeface="Arial" pitchFamily="34" charset="0"/>
                <a:cs typeface="Arial" pitchFamily="34" charset="0"/>
              </a:rPr>
              <a:t>Working prototype: dashboard with live readouts, outcomes and repository</a:t>
            </a:r>
            <a:endParaRPr lang="en-US" sz="1000" dirty="0"/>
          </a:p>
        </p:txBody>
      </p:sp>
      <p:sp>
        <p:nvSpPr>
          <p:cNvPr id="52" name="Flow heading"/>
          <p:cNvSpPr txBox="1"/>
          <p:nvPr/>
        </p:nvSpPr>
        <p:spPr>
          <a:xfrm>
            <a:off x="250000" y="4380000"/>
            <a:ext cx="9000000" cy="33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600" b="1" u="sng" dirty="0">
                <a:solidFill>
                  <a:schemeClr val="tx2"/>
                </a:solidFill>
                <a:latin typeface="Arial" pitchFamily="34" charset="0"/>
                <a:cs typeface="Arial" pitchFamily="34" charset="0"/>
              </a:rPr>
              <a:t>Methodology and process for implementation</a:t>
            </a:r>
          </a:p>
        </p:txBody>
      </p:sp>
      <p:sp>
        <p:nvSpPr>
          <p:cNvPr id="60" name="Step 1"/>
          <p:cNvSpPr/>
          <p:nvPr/>
        </p:nvSpPr>
        <p:spPr>
          <a:xfrm>
            <a:off x="250000" y="4780000"/>
            <a:ext cx="1480000" cy="900000"/>
          </a:xfrm>
          <a:prstGeom prst="roundRect">
            <a:avLst/>
          </a:prstGeom>
          <a:solidFill>
            <a:srgbClr val="0070C0"/>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Register instrument</a:t>
            </a:r>
          </a:p>
          <a:p>
            <a:pPr algn="ctr">
              <a:spcBef>
                <a:spcPts val="0"/>
              </a:spcBef>
              <a:spcAft>
                <a:spcPts val="0"/>
              </a:spcAft>
            </a:pPr>
            <a:r>
              <a:rPr lang="en-US" sz="900" b="0" dirty="0">
                <a:solidFill>
                  <a:srgbClr val="FFFFFF"/>
                </a:solidFill>
                <a:latin typeface="Arial" pitchFamily="34" charset="0"/>
                <a:cs typeface="Arial" pitchFamily="34" charset="0"/>
              </a:rPr>
              <a:t>particulars, Table 3 check</a:t>
            </a:r>
          </a:p>
        </p:txBody>
      </p:sp>
      <p:sp>
        <p:nvSpPr>
          <p:cNvPr id="80" name="Arrow 80"/>
          <p:cNvSpPr/>
          <p:nvPr/>
        </p:nvSpPr>
        <p:spPr>
          <a:xfrm>
            <a:off x="1745000" y="5150000"/>
            <a:ext cx="170000" cy="160000"/>
          </a:xfrm>
          <a:prstGeom prst="rightArrow">
            <a:avLst/>
          </a:prstGeom>
          <a:solidFill>
            <a:srgbClr val="7F7F7F"/>
          </a:solidFill>
          <a:ln>
            <a:noFill/>
          </a:ln>
        </p:spPr>
        <p:txBody>
          <a:bodyPr/>
          <a:lstStyle/>
          <a:p>
            <a:endParaRPr lang="en-US"/>
          </a:p>
        </p:txBody>
      </p:sp>
      <p:sp>
        <p:nvSpPr>
          <p:cNvPr id="61" name="Step 2"/>
          <p:cNvSpPr/>
          <p:nvPr/>
        </p:nvSpPr>
        <p:spPr>
          <a:xfrm>
            <a:off x="1930000" y="4780000"/>
            <a:ext cx="1480000" cy="900000"/>
          </a:xfrm>
          <a:prstGeom prst="roundRect">
            <a:avLst/>
          </a:prstGeom>
          <a:solidFill>
            <a:srgbClr val="0070C0"/>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Open test</a:t>
            </a:r>
          </a:p>
          <a:p>
            <a:pPr algn="ctr">
              <a:spcBef>
                <a:spcPts val="0"/>
              </a:spcBef>
              <a:spcAft>
                <a:spcPts val="0"/>
              </a:spcAft>
            </a:pPr>
            <a:r>
              <a:rPr lang="en-US" sz="900" b="0" dirty="0">
                <a:solidFill>
                  <a:srgbClr val="FFFFFF"/>
                </a:solidFill>
                <a:latin typeface="Arial" pitchFamily="34" charset="0"/>
                <a:cs typeface="Arial" pitchFamily="34" charset="0"/>
              </a:rPr>
              <a:t>purpose, rule set, lab, environment</a:t>
            </a:r>
          </a:p>
        </p:txBody>
      </p:sp>
      <p:sp>
        <p:nvSpPr>
          <p:cNvPr id="81" name="Arrow 81"/>
          <p:cNvSpPr/>
          <p:nvPr/>
        </p:nvSpPr>
        <p:spPr>
          <a:xfrm>
            <a:off x="3425000" y="5150000"/>
            <a:ext cx="170000" cy="160000"/>
          </a:xfrm>
          <a:prstGeom prst="rightArrow">
            <a:avLst/>
          </a:prstGeom>
          <a:solidFill>
            <a:srgbClr val="7F7F7F"/>
          </a:solidFill>
          <a:ln>
            <a:noFill/>
          </a:ln>
        </p:spPr>
        <p:txBody>
          <a:bodyPr/>
          <a:lstStyle/>
          <a:p>
            <a:endParaRPr lang="en-US"/>
          </a:p>
        </p:txBody>
      </p:sp>
      <p:sp>
        <p:nvSpPr>
          <p:cNvPr id="62" name="Step 3"/>
          <p:cNvSpPr/>
          <p:nvPr/>
        </p:nvSpPr>
        <p:spPr>
          <a:xfrm>
            <a:off x="3610000" y="4780000"/>
            <a:ext cx="1480000" cy="900000"/>
          </a:xfrm>
          <a:prstGeom prst="roundRect">
            <a:avLst/>
          </a:prstGeom>
          <a:solidFill>
            <a:srgbClr val="0070C0"/>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Record observations</a:t>
            </a:r>
          </a:p>
          <a:p>
            <a:pPr algn="ctr">
              <a:spcBef>
                <a:spcPts val="0"/>
              </a:spcBef>
              <a:spcAft>
                <a:spcPts val="0"/>
              </a:spcAft>
            </a:pPr>
            <a:r>
              <a:rPr lang="en-US" sz="900" b="0" dirty="0">
                <a:solidFill>
                  <a:srgbClr val="FFFFFF"/>
                </a:solidFill>
                <a:latin typeface="Arial" pitchFamily="34" charset="0"/>
                <a:cs typeface="Arial" pitchFamily="34" charset="0"/>
              </a:rPr>
              <a:t>validation, live MPE readout</a:t>
            </a:r>
          </a:p>
        </p:txBody>
      </p:sp>
      <p:sp>
        <p:nvSpPr>
          <p:cNvPr id="82" name="Arrow 82"/>
          <p:cNvSpPr/>
          <p:nvPr/>
        </p:nvSpPr>
        <p:spPr>
          <a:xfrm>
            <a:off x="5105000" y="5150000"/>
            <a:ext cx="170000" cy="160000"/>
          </a:xfrm>
          <a:prstGeom prst="rightArrow">
            <a:avLst/>
          </a:prstGeom>
          <a:solidFill>
            <a:srgbClr val="7F7F7F"/>
          </a:solidFill>
          <a:ln>
            <a:noFill/>
          </a:ln>
        </p:spPr>
        <p:txBody>
          <a:bodyPr/>
          <a:lstStyle/>
          <a:p>
            <a:endParaRPr lang="en-US"/>
          </a:p>
        </p:txBody>
      </p:sp>
      <p:sp>
        <p:nvSpPr>
          <p:cNvPr id="63" name="Step 4"/>
          <p:cNvSpPr/>
          <p:nvPr/>
        </p:nvSpPr>
        <p:spPr>
          <a:xfrm>
            <a:off x="5290000" y="4780000"/>
            <a:ext cx="1480000" cy="900000"/>
          </a:xfrm>
          <a:prstGeom prst="roundRect">
            <a:avLst/>
          </a:prstGeom>
          <a:solidFill>
            <a:srgbClr val="0070C0"/>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Evaluate</a:t>
            </a:r>
          </a:p>
          <a:p>
            <a:pPr algn="ctr">
              <a:spcBef>
                <a:spcPts val="0"/>
              </a:spcBef>
              <a:spcAft>
                <a:spcPts val="0"/>
              </a:spcAft>
            </a:pPr>
            <a:r>
              <a:rPr lang="en-US" sz="900" b="0" dirty="0">
                <a:solidFill>
                  <a:srgbClr val="FFFFFF"/>
                </a:solidFill>
                <a:latin typeface="Arial" pitchFamily="34" charset="0"/>
                <a:cs typeface="Arial" pitchFamily="34" charset="0"/>
              </a:rPr>
              <a:t>MPE band, Ec, per-test criteria</a:t>
            </a:r>
          </a:p>
        </p:txBody>
      </p:sp>
      <p:sp>
        <p:nvSpPr>
          <p:cNvPr id="83" name="Arrow 83"/>
          <p:cNvSpPr/>
          <p:nvPr/>
        </p:nvSpPr>
        <p:spPr>
          <a:xfrm>
            <a:off x="6785000" y="5150000"/>
            <a:ext cx="170000" cy="160000"/>
          </a:xfrm>
          <a:prstGeom prst="rightArrow">
            <a:avLst/>
          </a:prstGeom>
          <a:solidFill>
            <a:srgbClr val="7F7F7F"/>
          </a:solidFill>
          <a:ln>
            <a:noFill/>
          </a:ln>
        </p:spPr>
        <p:txBody>
          <a:bodyPr/>
          <a:lstStyle/>
          <a:p>
            <a:endParaRPr lang="en-US"/>
          </a:p>
        </p:txBody>
      </p:sp>
      <p:sp>
        <p:nvSpPr>
          <p:cNvPr id="64" name="Step 5"/>
          <p:cNvSpPr/>
          <p:nvPr/>
        </p:nvSpPr>
        <p:spPr>
          <a:xfrm>
            <a:off x="6970000" y="4780000"/>
            <a:ext cx="1480000" cy="900000"/>
          </a:xfrm>
          <a:prstGeom prst="roundRect">
            <a:avLst/>
          </a:prstGeom>
          <a:solidFill>
            <a:srgbClr val="305496"/>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Close</a:t>
            </a:r>
          </a:p>
          <a:p>
            <a:pPr algn="ctr">
              <a:spcBef>
                <a:spcPts val="0"/>
              </a:spcBef>
              <a:spcAft>
                <a:spcPts val="0"/>
              </a:spcAft>
            </a:pPr>
            <a:r>
              <a:rPr lang="en-US" sz="900" b="0" dirty="0">
                <a:solidFill>
                  <a:srgbClr val="FFFFFF"/>
                </a:solidFill>
                <a:latin typeface="Arial" pitchFamily="34" charset="0"/>
                <a:cs typeface="Arial" pitchFamily="34" charset="0"/>
              </a:rPr>
              <a:t>observations frozen</a:t>
            </a:r>
          </a:p>
        </p:txBody>
      </p:sp>
      <p:sp>
        <p:nvSpPr>
          <p:cNvPr id="84" name="Arrow 84"/>
          <p:cNvSpPr/>
          <p:nvPr/>
        </p:nvSpPr>
        <p:spPr>
          <a:xfrm>
            <a:off x="8465000" y="5150000"/>
            <a:ext cx="170000" cy="160000"/>
          </a:xfrm>
          <a:prstGeom prst="rightArrow">
            <a:avLst/>
          </a:prstGeom>
          <a:solidFill>
            <a:srgbClr val="7F7F7F"/>
          </a:solidFill>
          <a:ln>
            <a:noFill/>
          </a:ln>
        </p:spPr>
        <p:txBody>
          <a:bodyPr/>
          <a:lstStyle/>
          <a:p>
            <a:endParaRPr lang="en-US"/>
          </a:p>
        </p:txBody>
      </p:sp>
      <p:sp>
        <p:nvSpPr>
          <p:cNvPr id="65" name="Step 6"/>
          <p:cNvSpPr/>
          <p:nvPr/>
        </p:nvSpPr>
        <p:spPr>
          <a:xfrm>
            <a:off x="8650000" y="4780000"/>
            <a:ext cx="1480000" cy="900000"/>
          </a:xfrm>
          <a:prstGeom prst="roundRect">
            <a:avLst/>
          </a:prstGeom>
          <a:solidFill>
            <a:srgbClr val="305496"/>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Approve and sign</a:t>
            </a:r>
          </a:p>
          <a:p>
            <a:pPr algn="ctr">
              <a:spcBef>
                <a:spcPts val="0"/>
              </a:spcBef>
              <a:spcAft>
                <a:spcPts val="0"/>
              </a:spcAft>
            </a:pPr>
            <a:r>
              <a:rPr lang="en-US" sz="900" b="0" dirty="0">
                <a:solidFill>
                  <a:srgbClr val="FFFFFF"/>
                </a:solidFill>
                <a:latin typeface="Arial" pitchFamily="34" charset="0"/>
                <a:cs typeface="Arial" pitchFamily="34" charset="0"/>
              </a:rPr>
              <a:t>SHA-256, approver role</a:t>
            </a:r>
          </a:p>
        </p:txBody>
      </p:sp>
      <p:sp>
        <p:nvSpPr>
          <p:cNvPr id="85" name="Arrow 85"/>
          <p:cNvSpPr/>
          <p:nvPr/>
        </p:nvSpPr>
        <p:spPr>
          <a:xfrm>
            <a:off x="10145000" y="5150000"/>
            <a:ext cx="170000" cy="160000"/>
          </a:xfrm>
          <a:prstGeom prst="rightArrow">
            <a:avLst/>
          </a:prstGeom>
          <a:solidFill>
            <a:srgbClr val="7F7F7F"/>
          </a:solidFill>
          <a:ln>
            <a:noFill/>
          </a:ln>
        </p:spPr>
        <p:txBody>
          <a:bodyPr/>
          <a:lstStyle/>
          <a:p>
            <a:endParaRPr lang="en-US"/>
          </a:p>
        </p:txBody>
      </p:sp>
      <p:sp>
        <p:nvSpPr>
          <p:cNvPr id="66" name="Step 7"/>
          <p:cNvSpPr/>
          <p:nvPr/>
        </p:nvSpPr>
        <p:spPr>
          <a:xfrm>
            <a:off x="10330000" y="4780000"/>
            <a:ext cx="1480000" cy="900000"/>
          </a:xfrm>
          <a:prstGeom prst="roundRect">
            <a:avLst/>
          </a:prstGeom>
          <a:solidFill>
            <a:srgbClr val="1E7A4E"/>
          </a:solidFill>
          <a:ln>
            <a:noFill/>
          </a:ln>
        </p:spPr>
        <p:txBody>
          <a:bodyPr wrap="square" lIns="36000" rIns="36000" tIns="18000" bIns="18000" anchor="ctr">
            <a:normAutofit/>
          </a:bodyPr>
          <a:lstStyle/>
          <a:p>
            <a:pPr algn="ctr">
              <a:spcBef>
                <a:spcPts val="0"/>
              </a:spcBef>
              <a:spcAft>
                <a:spcPts val="0"/>
              </a:spcAft>
            </a:pPr>
            <a:r>
              <a:rPr lang="en-US" sz="1000" b="1" dirty="0">
                <a:solidFill>
                  <a:srgbClr val="FFFFFF"/>
                </a:solidFill>
                <a:latin typeface="Arial" pitchFamily="34" charset="0"/>
                <a:cs typeface="Arial" pitchFamily="34" charset="0"/>
              </a:rPr>
              <a:t>Report and certificate</a:t>
            </a:r>
          </a:p>
          <a:p>
            <a:pPr algn="ctr">
              <a:spcBef>
                <a:spcPts val="0"/>
              </a:spcBef>
              <a:spcAft>
                <a:spcPts val="0"/>
              </a:spcAft>
            </a:pPr>
            <a:r>
              <a:rPr lang="en-US" sz="900" b="0" dirty="0">
                <a:solidFill>
                  <a:srgbClr val="FFFFFF"/>
                </a:solidFill>
                <a:latin typeface="Arial" pitchFamily="34" charset="0"/>
                <a:cs typeface="Arial" pitchFamily="34" charset="0"/>
              </a:rPr>
              <a:t>PDF, DOCX, verify page</a:t>
            </a:r>
          </a:p>
        </p:txBody>
      </p:sp>
      <p:sp>
        <p:nvSpPr>
          <p:cNvPr id="90" name="Flow note"/>
          <p:cNvSpPr txBox="1"/>
          <p:nvPr/>
        </p:nvSpPr>
        <p:spPr>
          <a:xfrm>
            <a:off x="250000" y="5720000"/>
            <a:ext cx="11700000" cy="560000"/>
          </a:xfrm>
          <a:prstGeom prst="rect">
            <a:avLst/>
          </a:prstGeom>
          <a:noFill/>
        </p:spPr>
        <p:txBody>
          <a:bodyPr wrap="square" rtlCol="0" lIns="45720" rIns="45720" tIns="27432" bIns="27432">
            <a:normAutofit/>
          </a:bodyPr>
          <a:lstStyle/>
          <a:p>
            <a:pPr>
              <a:spcBef>
                <a:spcPts val="0"/>
              </a:spcBef>
              <a:spcAft>
                <a:spcPts val="0"/>
              </a:spcAft>
              <a:buNone/>
            </a:pPr>
            <a:r>
              <a:rPr lang="en-US" sz="1100" dirty="0">
                <a:latin typeface="Arial" pitchFamily="34" charset="0"/>
                <a:cs typeface="Arial" pitchFamily="34" charset="0"/>
              </a:rPr>
              <a:t>Every save re-runs the engine, so verdicts, the error envelope and the completeness list update together. Reports are always recomputed from the stored raw observations against the rule set they were opened under.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0" y="0"/>
            <a:ext cx="10000" cy="10000"/>
          </a:xfrm>
          <a:prstGeom prst="rect">
            <a:avLst/>
          </a:prstGeom>
          <a:noFill/>
          <a:ln w="9525">
            <a:noFill/>
            <a:miter lim="800000"/>
            <a:headEnd/>
            <a:tailEnd/>
          </a:ln>
        </p:spPr>
        <p:txBody>
          <a:bodyPr wrap="square" rtlCol="0" lIns="45720" rIns="45720" tIns="27432" bIns="27432">
            <a:normAutofit/>
          </a:bodyPr>
          <a:lstStyle/>
          <a:p>
            <a:pPr>
              <a:spcBef>
                <a:spcPts val="0"/>
              </a:spcBef>
              <a:spcAft>
                <a:spcPts val="0"/>
              </a:spcAft>
              <a:buNone/>
            </a:pPr>
            <a:r>
              <a:rPr lang="en-US" sz="100" dirty="0">
                <a:latin typeface="Arial" pitchFamily="34" charset="0"/>
                <a:cs typeface="Arial" pitchFamily="34" charset="0"/>
              </a:rPr>
              <a:t/>
            </a:r>
            <a:endParaRPr lang="en-US" sz="100" dirty="0"/>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sp>
        <p:nvSpPr>
          <p:cNvPr id="72" name="Col 250000"/>
          <p:cNvSpPr txBox="1"/>
          <p:nvPr/>
        </p:nvSpPr>
        <p:spPr>
          <a:xfrm>
            <a:off x="250000" y="1250000"/>
            <a:ext cx="3800000" cy="500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500" b="1" u="sng" dirty="0">
                <a:solidFill>
                  <a:schemeClr val="tx2"/>
                </a:solidFill>
                <a:latin typeface="Arial" pitchFamily="34" charset="0"/>
                <a:cs typeface="Arial" pitchFamily="34" charset="0"/>
              </a:rPr>
              <a:t>Analysis of the feasibility of the idea</a:t>
            </a:r>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Working prototype already covers the complete R 76 battery, workflow, exports and certificate</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Two runtime dependencies; runs on any laboratory PC or a small server, offline if needed</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Every constant traced to a clause of R 76-1:2006 and locked by 47 hand-worked tests</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Report time falls from hours of spreadsheet work to minutes of data entry</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Instrument-wise history and search replace paper files without changing how labs test</a:t>
            </a:r>
            <a:endParaRPr lang="en-US" sz="1200" dirty="0"/>
          </a:p>
        </p:txBody>
      </p:sp>
      <p:sp>
        <p:nvSpPr>
          <p:cNvPr id="112" name="Col 4200000"/>
          <p:cNvSpPr txBox="1"/>
          <p:nvPr/>
        </p:nvSpPr>
        <p:spPr>
          <a:xfrm>
            <a:off x="4200000" y="1250000"/>
            <a:ext cx="3800000" cy="500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500" b="1" u="sng" dirty="0">
                <a:solidFill>
                  <a:schemeClr val="tx2"/>
                </a:solidFill>
                <a:latin typeface="Arial" pitchFamily="34" charset="0"/>
                <a:cs typeface="Arial" pitchFamily="34" charset="0"/>
              </a:rPr>
              <a:t>Potential challenges and risks</a:t>
            </a:r>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Multi-interval and multiple-range instruments (e1, e2, e3) need per-range MPE handling</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OIML R 76 is under revision; limits or test procedures may change</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Labs hold years of results in spreadsheets that must be brought across</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PDF rendering depends on a Chromium browser being present on the server</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Laboratory data is sensitive: access, integrity and long-term reproducibility must hold</a:t>
            </a:r>
            <a:endParaRPr lang="en-US" sz="1200" dirty="0"/>
          </a:p>
        </p:txBody>
      </p:sp>
      <p:sp>
        <p:nvSpPr>
          <p:cNvPr id="151" name="Col 8150000"/>
          <p:cNvSpPr txBox="1"/>
          <p:nvPr/>
        </p:nvSpPr>
        <p:spPr>
          <a:xfrm>
            <a:off x="8150000" y="1250000"/>
            <a:ext cx="3800000" cy="500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500" b="1" u="sng" dirty="0">
                <a:solidFill>
                  <a:schemeClr val="tx2"/>
                </a:solidFill>
                <a:latin typeface="Arial" pitchFamily="34" charset="0"/>
                <a:cs typeface="Arial" pitchFamily="34" charset="0"/>
              </a:rPr>
              <a:t>Strategies for overcoming these challenges</a:t>
            </a:r>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Rule set is data: a new edition is a new JSON file; reports pin the version they were judged under</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Range-aware evaluation is an extension of the same engine; tests guard existing behaviour</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CSV and JSON import for legacy observations; JSON export for integration with portals</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DOCX and HTML exports work without Chromium; PDF path is auto-detected or configured</a:t>
            </a:r>
            <a:endParaRPr lang="en-US" sz="1200" dirty="0"/>
          </a:p>
          <a:p>
            <a:pPr marL="285750" indent="-285750">
              <a:spcBef>
                <a:spcPts val="0"/>
              </a:spcBef>
              <a:spcAft>
                <a:spcPts val="120"/>
              </a:spcAft>
              <a:buFont typeface="Arial" pitchFamily="34" charset="0"/>
              <a:buChar char="•"/>
            </a:pPr>
            <a:r>
              <a:rPr lang="en-US" sz="1200" dirty="0">
                <a:latin typeface="Arial" pitchFamily="34" charset="0"/>
                <a:cs typeface="Arial" pitchFamily="34" charset="0"/>
              </a:rPr>
              <a:t>Roles, scrypt passwords, audit trail, signed approvals and a public verification page; TLS at the proxy</a:t>
            </a:r>
            <a:endParaRPr lang="en-US" sz="1200"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0" y="0"/>
            <a:ext cx="10000" cy="10000"/>
          </a:xfrm>
          <a:prstGeom prst="rect">
            <a:avLst/>
          </a:prstGeom>
          <a:noFill/>
          <a:ln w="9525">
            <a:noFill/>
            <a:miter lim="800000"/>
            <a:headEnd/>
            <a:tailEnd/>
          </a:ln>
        </p:spPr>
        <p:txBody>
          <a:bodyPr wrap="square" rtlCol="0" lIns="45720" rIns="45720" tIns="27432" bIns="27432">
            <a:normAutofit/>
          </a:bodyPr>
          <a:lstStyle/>
          <a:p>
            <a:pPr>
              <a:spcBef>
                <a:spcPts val="0"/>
              </a:spcBef>
              <a:spcAft>
                <a:spcPts val="0"/>
              </a:spcAft>
              <a:buNone/>
            </a:pPr>
            <a:r>
              <a:rPr lang="en-US" sz="100" dirty="0">
                <a:latin typeface="Arial" pitchFamily="34" charset="0"/>
                <a:cs typeface="Arial" pitchFamily="34" charset="0"/>
              </a:rPr>
              <a:t/>
            </a:r>
            <a:endParaRPr lang="en-US" sz="100" dirty="0"/>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sp>
        <p:nvSpPr>
          <p:cNvPr id="71" name="Impact"/>
          <p:cNvSpPr txBox="1"/>
          <p:nvPr/>
        </p:nvSpPr>
        <p:spPr>
          <a:xfrm>
            <a:off x="250000" y="1250000"/>
            <a:ext cx="5700000" cy="500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500" b="1" u="sng" dirty="0">
                <a:solidFill>
                  <a:schemeClr val="tx2"/>
                </a:solidFill>
                <a:latin typeface="Arial" pitchFamily="34" charset="0"/>
                <a:cs typeface="Arial" pitchFamily="34" charset="0"/>
              </a:rPr>
              <a:t>Potential impact on the target audience</a:t>
            </a:r>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Department of Consumer Affairs and Legal Metrology laboratories: </a:t>
            </a:r>
            <a:r>
              <a:rPr lang="en-US" sz="1200" dirty="0">
                <a:latin typeface="Arial" pitchFamily="34" charset="0"/>
                <a:cs typeface="Arial" pitchFamily="34" charset="0"/>
              </a:rPr>
              <a:t>one uniform, clause-referenced report format across every test centre; faster model approvals</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Test engineers: </a:t>
            </a:r>
            <a:r>
              <a:rPr lang="en-US" sz="1200" dirty="0">
                <a:latin typeface="Arial" pitchFamily="34" charset="0"/>
                <a:cs typeface="Arial" pitchFamily="34" charset="0"/>
              </a:rPr>
              <a:t>no manual band look-up or arithmetic; impossible readings refused at entry; the live readout shows the verdict before the point is saved</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Approving officers: </a:t>
            </a:r>
            <a:r>
              <a:rPr lang="en-US" sz="1200" dirty="0">
                <a:latin typeface="Arial" pitchFamily="34" charset="0"/>
                <a:cs typeface="Arial" pitchFamily="34" charset="0"/>
              </a:rPr>
              <a:t>review a complete, computed record; sign once; certificate issued automatically when the battery passes</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Manufacturers and applicants: </a:t>
            </a:r>
            <a:r>
              <a:rPr lang="en-US" sz="1200" dirty="0">
                <a:latin typeface="Arial" pitchFamily="34" charset="0"/>
                <a:cs typeface="Arial" pitchFamily="34" charset="0"/>
              </a:rPr>
              <a:t>predictable turnaround, editable Word report for their records, verifiable certificate number</a:t>
            </a:r>
            <a:endParaRPr lang="en-US" sz="1200" dirty="0"/>
          </a:p>
          <a:p>
            <a:pPr marL="285750" indent="-285750">
              <a:spcBef>
                <a:spcPts val="0"/>
              </a:spcBef>
              <a:spcAft>
                <a:spcPts val="200"/>
              </a:spcAft>
              <a:buFont typeface="Arial" pitchFamily="34" charset="0"/>
              <a:buChar char="•"/>
            </a:pPr>
            <a:r>
              <a:rPr lang="en-US" sz="1200" b="1" dirty="0">
                <a:latin typeface="Arial" pitchFamily="34" charset="0"/>
                <a:cs typeface="Arial" pitchFamily="34" charset="0"/>
              </a:rPr>
              <a:t>Consumers and traders: </a:t>
            </a:r>
            <a:r>
              <a:rPr lang="en-US" sz="1200" dirty="0">
                <a:latin typeface="Arial" pitchFamily="34" charset="0"/>
                <a:cs typeface="Arial" pitchFamily="34" charset="0"/>
              </a:rPr>
              <a:t>instruments in the market have passed a consistently judged evaluation</a:t>
            </a:r>
            <a:endParaRPr lang="en-US" sz="1200" dirty="0"/>
          </a:p>
        </p:txBody>
      </p:sp>
      <p:sp>
        <p:nvSpPr>
          <p:cNvPr id="72" name="Benefits"/>
          <p:cNvSpPr txBox="1"/>
          <p:nvPr/>
        </p:nvSpPr>
        <p:spPr>
          <a:xfrm>
            <a:off x="6200000" y="1250000"/>
            <a:ext cx="5750000" cy="5000000"/>
          </a:xfrm>
          <a:prstGeom prst="rect">
            <a:avLst/>
          </a:prstGeom>
          <a:noFill/>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500" b="1" u="sng" dirty="0">
                <a:solidFill>
                  <a:schemeClr val="tx2"/>
                </a:solidFill>
                <a:latin typeface="Arial" pitchFamily="34" charset="0"/>
                <a:cs typeface="Arial" pitchFamily="34" charset="0"/>
              </a:rPr>
              <a:t>Benefits of the solution (social, economic, environmental, etc.)</a:t>
            </a:r>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Social: </a:t>
            </a:r>
            <a:r>
              <a:rPr lang="en-US" sz="1200" dirty="0">
                <a:latin typeface="Arial" pitchFamily="34" charset="0"/>
                <a:cs typeface="Arial" pitchFamily="34" charset="0"/>
              </a:rPr>
              <a:t>fair transactions and consumer protection under the Legal Metrology Act, 2009, rest on approvals that are computed the same way everywhere</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Economic: </a:t>
            </a:r>
            <a:r>
              <a:rPr lang="en-US" sz="1200" dirty="0">
                <a:latin typeface="Arial" pitchFamily="34" charset="0"/>
                <a:cs typeface="Arial" pitchFamily="34" charset="0"/>
              </a:rPr>
              <a:t>report preparation cut from hours to minutes; fewer repeat tests caused by calculation errors; shorter time to market for approved instruments</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Governance: </a:t>
            </a:r>
            <a:r>
              <a:rPr lang="en-US" sz="1200" dirty="0">
                <a:latin typeface="Arial" pitchFamily="34" charset="0"/>
                <a:cs typeface="Arial" pitchFamily="34" charset="0"/>
              </a:rPr>
              <a:t>traceable verdicts with clause references, immutable observations, audit trail, signed approvals and public certificate verification</a:t>
            </a:r>
            <a:endParaRPr lang="en-US" sz="1200" dirty="0"/>
          </a:p>
          <a:p>
            <a:pPr marL="285750" indent="-285750">
              <a:spcBef>
                <a:spcPts val="0"/>
              </a:spcBef>
              <a:spcAft>
                <a:spcPts val="140"/>
              </a:spcAft>
              <a:buFont typeface="Arial" pitchFamily="34" charset="0"/>
              <a:buChar char="•"/>
            </a:pPr>
            <a:r>
              <a:rPr lang="en-US" sz="1200" b="1" dirty="0">
                <a:latin typeface="Arial" pitchFamily="34" charset="0"/>
                <a:cs typeface="Arial" pitchFamily="34" charset="0"/>
              </a:rPr>
              <a:t>Environmental: </a:t>
            </a:r>
            <a:r>
              <a:rPr lang="en-US" sz="1200" dirty="0">
                <a:latin typeface="Arial" pitchFamily="34" charset="0"/>
                <a:cs typeface="Arial" pitchFamily="34" charset="0"/>
              </a:rPr>
              <a:t>paperless records and reports; digital repository replaces physical files at each centre</a:t>
            </a:r>
            <a:endParaRPr lang="en-US" sz="1200" dirty="0"/>
          </a:p>
          <a:p>
            <a:pPr marL="285750" indent="-285750">
              <a:spcBef>
                <a:spcPts val="0"/>
              </a:spcBef>
              <a:spcAft>
                <a:spcPts val="200"/>
              </a:spcAft>
              <a:buFont typeface="Arial" pitchFamily="34" charset="0"/>
              <a:buChar char="•"/>
            </a:pPr>
            <a:r>
              <a:rPr lang="en-US" sz="1200" b="1" dirty="0">
                <a:latin typeface="Arial" pitchFamily="34" charset="0"/>
                <a:cs typeface="Arial" pitchFamily="34" charset="0"/>
              </a:rPr>
              <a:t>Future-proof: </a:t>
            </a:r>
            <a:r>
              <a:rPr lang="en-US" sz="1200" dirty="0">
                <a:latin typeface="Arial" pitchFamily="34" charset="0"/>
                <a:cs typeface="Arial" pitchFamily="34" charset="0"/>
              </a:rPr>
              <a:t>a revised OIML R 76 is a new rule-set file, not new software; JSON exports integrate with national portals</a:t>
            </a:r>
            <a:endParaRPr lang="en-US" sz="1200" dirty="0"/>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250000" y="1250000"/>
            <a:ext cx="11700000" cy="4900000"/>
          </a:xfrm>
          <a:prstGeom prst="rect">
            <a:avLst/>
          </a:prstGeom>
          <a:noFill/>
          <a:ln w="9525">
            <a:noFill/>
            <a:miter lim="800000"/>
            <a:headEnd/>
            <a:tailEnd/>
          </a:ln>
        </p:spPr>
        <p:txBody>
          <a:bodyPr wrap="square" rtlCol="0" lIns="45720" rIns="45720" tIns="27432" bIns="27432">
            <a:normAutofit/>
          </a:bodyPr>
          <a:lstStyle/>
          <a:p>
            <a:pPr marL="342900" indent="-342900">
              <a:spcBef>
                <a:spcPts val="400"/>
              </a:spcBef>
              <a:spcAft>
                <a:spcPts val="300"/>
              </a:spcAft>
              <a:buFont typeface="Wingdings" pitchFamily="2" charset="2"/>
              <a:buChar char="v"/>
            </a:pPr>
            <a:r>
              <a:rPr lang="en-US" sz="1600" b="1" u="sng" dirty="0">
                <a:solidFill>
                  <a:schemeClr val="tx2"/>
                </a:solidFill>
                <a:latin typeface="Arial" pitchFamily="34" charset="0"/>
                <a:cs typeface="Arial" pitchFamily="34" charset="0"/>
              </a:rPr>
              <a:t>Details / Links of the reference and research work</a:t>
            </a:r>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OIML R 76-1:2006 (E), Non-automatic weighing instruments. Part 1: Metrological and technical requirements. Tests. </a:t>
            </a:r>
            <a:r>
              <a:rPr lang="en-US" sz="1200" dirty="0">
                <a:solidFill>
                  <a:srgbClr val="0070C0"/>
                </a:solidFill>
                <a:latin typeface="Arial" pitchFamily="34" charset="0"/>
                <a:cs typeface="Arial" pitchFamily="34" charset="0"/>
              </a:rPr>
              <a:t>https://www.oiml.org/en/files/pdf_r/r076-1-e06.pdf</a:t>
            </a:r>
            <a:endParaRPr lang="en-US" sz="1200" dirty="0"/>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OIML R 76-2:2007 (E), Part 2: Test report format. </a:t>
            </a:r>
            <a:r>
              <a:rPr lang="en-US" sz="1200" dirty="0">
                <a:solidFill>
                  <a:srgbClr val="0070C0"/>
                </a:solidFill>
                <a:latin typeface="Arial" pitchFamily="34" charset="0"/>
                <a:cs typeface="Arial" pitchFamily="34" charset="0"/>
              </a:rPr>
              <a:t>https://www.oiml.org/en/files/pdf_r/r076-2-e07.pdf</a:t>
            </a:r>
            <a:endParaRPr lang="en-US" sz="1200" dirty="0"/>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The Legal Metrology Act, 2009 and the Legal Metrology (General) Rules, 2011, Department of Consumer Affairs. </a:t>
            </a:r>
            <a:r>
              <a:rPr lang="en-US" sz="1200" dirty="0">
                <a:solidFill>
                  <a:srgbClr val="0070C0"/>
                </a:solidFill>
                <a:latin typeface="Arial" pitchFamily="34" charset="0"/>
                <a:cs typeface="Arial" pitchFamily="34" charset="0"/>
              </a:rPr>
              <a:t>https://consumeraffairs.gov.in/pages/legal-metrology-act</a:t>
            </a:r>
            <a:endParaRPr lang="en-US" sz="1200" dirty="0"/>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Smart India Hackathon 2026, Problem Statement SIH26035, Ministry of Consumer Affairs, Food and Public Distribution. </a:t>
            </a:r>
            <a:r>
              <a:rPr lang="en-US" sz="1200" dirty="0">
                <a:solidFill>
                  <a:srgbClr val="0070C0"/>
                </a:solidFill>
                <a:latin typeface="Arial" pitchFamily="34" charset="0"/>
                <a:cs typeface="Arial" pitchFamily="34" charset="0"/>
              </a:rPr>
              <a:t>https://www.sih.gov.in</a:t>
            </a:r>
            <a:endParaRPr lang="en-US" sz="1200" dirty="0"/>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OIML Certification System (OIML-CS) and the use of OIML certificates for R 76 instruments. </a:t>
            </a:r>
            <a:r>
              <a:rPr lang="en-US" sz="1200" dirty="0">
                <a:solidFill>
                  <a:srgbClr val="0070C0"/>
                </a:solidFill>
                <a:latin typeface="Arial" pitchFamily="34" charset="0"/>
                <a:cs typeface="Arial" pitchFamily="34" charset="0"/>
              </a:rPr>
              <a:t>https://www.oiml.org/en/oiml-cs</a:t>
            </a:r>
            <a:endParaRPr lang="en-US" sz="1200" dirty="0"/>
          </a:p>
          <a:p>
            <a:pPr marL="285750" indent="-285750">
              <a:spcBef>
                <a:spcPts val="0"/>
              </a:spcBef>
              <a:spcAft>
                <a:spcPts val="160"/>
              </a:spcAft>
              <a:buFont typeface="Arial" pitchFamily="34" charset="0"/>
              <a:buChar char="•"/>
            </a:pPr>
            <a:r>
              <a:rPr lang="en-US" sz="1200" dirty="0">
                <a:latin typeface="Arial" pitchFamily="34" charset="0"/>
                <a:cs typeface="Arial" pitchFamily="34" charset="0"/>
              </a:rPr>
              <a:t>Clauses implemented: 3.2 Table 3 (classification), 3.5 and Table 6 (MPE), 3.5.3.2 and A.4.4.3 (changeover point, zero correction), 3.6 (eccentricity, repeatability), 3.8.2.2 (discrimination), 3.9.1 to 3.9.4 (tilting, temperature, power supply, creep, zero return), 4.5 and 4.6 (zero and tare devices), 5.3.3 and B.4 (span stability), 5.3.5 and A.5.2 (warm-up), B.2 (damp heat), 7.1 (descriptive markings).</a:t>
            </a:r>
            <a:endParaRPr lang="en-US" sz="1200" dirty="0"/>
          </a:p>
          <a:p>
            <a:pPr marL="285750" indent="-285750">
              <a:spcBef>
                <a:spcPts val="0"/>
              </a:spcBef>
              <a:spcAft>
                <a:spcPts val="200"/>
              </a:spcAft>
              <a:buFont typeface="Arial" pitchFamily="34" charset="0"/>
              <a:buChar char="•"/>
            </a:pPr>
            <a:r>
              <a:rPr lang="en-US" sz="1200" dirty="0">
                <a:latin typeface="Arial" pitchFamily="34" charset="0"/>
                <a:cs typeface="Arial" pitchFamily="34" charset="0"/>
              </a:rPr>
              <a:t>Prototype documentation: docs/architecture.md, docs/calculation-methodology.md and docs/deployment.md in the project repository.</a:t>
            </a:r>
            <a:endParaRPr lang="en-US" sz="1200" dirty="0"/>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7485</TotalTime>
  <Words>325</Words>
  <Application>Microsoft Office PowerPoint</Application>
  <PresentationFormat>Widescreen</PresentationFormat>
  <Paragraphs>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2024</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146</cp:revision>
  <dcterms:created xsi:type="dcterms:W3CDTF">2013-12-12T18:46:50Z</dcterms:created>
  <dcterms:modified xsi:type="dcterms:W3CDTF">2024-08-20T05:35:57Z</dcterms:modified>
  <cp:category/>
</cp:coreProperties>
</file>